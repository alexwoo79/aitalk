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notesSlides/notesSlide1.xml" Type="http://schemas.openxmlformats.org/officeDocument/2006/relationships/notesSlide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notesSlides/notesSlide23.xml" Type="http://schemas.openxmlformats.org/officeDocument/2006/relationships/notesSlide"/><Relationship Id="rId59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5.xml" Type="http://schemas.openxmlformats.org/officeDocument/2006/relationships/notesSlide"/><Relationship Id="rId61" Target="notesSlides/notesSlide26.xml" Type="http://schemas.openxmlformats.org/officeDocument/2006/relationships/notesSlide"/><Relationship Id="rId62" Target="notesSlides/notesSlide27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“AI赋能未来”的培训。今天，我们将一起探讨AI如何从两个核心维度——业务革新和编程学习——深刻地改变我们的工作与生活。我们将从理念到实践，从工具到方法，全面进阶，共同拥抱AI带来的无限可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培训有两个核心目标：一是学习如何利用AI赋能我们的日常业务，提升效率；二是探索如何借助AI工具，更高效地学习编程。我们的议程将分为两大部分，首先深入探讨AI如何重塑业务流程，然后转向AI如何开启编程学习的新范式。希望通过这次分享，大家都能找到适合自己的AI应用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现在，我们进入第一部分：AI赋能业务。在这个章节，我们将探讨AI如何不再是一个孤立的工具，而是深度融入我们业务流程的“智能伙伴”，从而彻底重塑我们的工作方式。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AI具体是如何赋能业务的呢？核心思想是将AI视为一个嵌入流程的“智能伙伴”。它的工作模式可以概括为五个步骤：首先，通过大语言模型理解我们的需求；然后，通过多模态模型感知图纸、草图等非文本信息；接着，生成初步方案；再利用RAG技术进行优化；最终形成一个自动化的AI Agent。这个闭环将极大地提升我们的工作效率。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现这一模式的背后，有三项核心技术。首先是大语言模型LLM，它负责理解我们的语言。其次是多模态模型，它能看懂图纸和草图。最后是检索增强生成技术RAG，它能调用专业知识库来保证AI输出的准确性。这三者共同构成了AI赋能业务的技术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看一个具体的场景：建筑设计。传统模式下，从手绘草图到BIM模型需要耗费大量时间。而通过AI，我们可以将草图直接上传，AI会自动识别并结合专家知识，在几分钟内生成一个可用的BIM模型。这不仅极大地提升了效率，还保证了设计的准确性和专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来看数据分析场景。传统方式下，从建筑平面图中提取房间面积、门窗位置等信息需要人工录入，非常繁琐。AI可以通过智能识别技术，自动从CAD图纸中提取这些信息，并生成结构化的数据。这不仅实现了自动化，还保证了数据的准确性，为后续的BIM建模和数据分析打下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理论说了很多，我们来看一个实际的工具。Slipstream Sketchbox是一个免费的在线工具，它可以让你上传手绘草图，然后自动生成3D建筑模型并进行能耗分析。这个过程非常直观，能让大家立刻感受到AI带来的效率提升。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Sketchbox，我们还可以使用更底层的模型，比如阿里巴巴的Qwen-VL。通过本地部署，我们可以用它来精确解析建筑图纸，提取结构化数据。更进一步，像BIMgent这样的开源框架，甚至可以模拟人的操作，自动在BIM软件里完成建模。这些工具展示了AI在数据处理和软件自动化方面的巨大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好的，业务部分就到这里。接下来，我们进入第二部分，探讨一个大家可能更关心的话题：AI如何帮助我们更高效地学习编程。AI将成为我们学习路上的“超级副驾”，开启一个全新的学习范式。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时代的编程学习，核心是把AI当作我们的“超级副驾”。我们可以遵循一个三阶段的学习路径：入门时，让AI当“翻译官”，把复杂概念讲明白；练习时，让AI当“出题官”，帮我们巩固技能；进阶时，让AI当“架构师”，辅助我们完成项目。这个路径能让我们更高效地掌握编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以Python为例，看看AI如何辅助学习。入门时，你可以让AI用生活中的例子解释pandas筛选数据的原理。练习时，你可以让AI给你一段有bug的代码，自己去修复。进阶时，你可以直接告诉AI你想做一个Flask应用，它会帮你设计好框架和核心代码。AI让学习变得非常直观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对于R语言，AI同样能发挥巨大作用。你可以让AI直接帮你写出dplyr的管道操作代码，甚至让它帮你用flextable制作带有条件格式的专业表格。更强大的是，你可以让AI生成一个完整的R Markdown报告模板，把你的分析过程和结果一键生成为漂亮的PDF报告。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即使是像Rust这样相对复杂的语言，AI也能帮助我们。比如，它可以用生动的比喻解释“所有权”这样的核心概念。在练习时，它可以为你设计模式匹配的练习场景。当你想开发桌面应用时，它甚至可以帮你搭建好Tauri框架的前后端代码，让你快速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会了编程，如何管理我们的知识和成果呢？这里推荐大家使用Markdown。它简单、通用，是连接AI、代码和文档的桥梁。结合Obsidian这样的工具，你可以轻松构建一个属于自己的、互联互通的个人知识库。它的双链功能和强大的插件系统，能让你的学习和工作效率倍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来看一个完整的闭环。首先，你用Obsidian记录你的分析过程和代码。然后，你可以一键将它导出为专业的PDF报告，直接发给同事或客户。更进一步，你可以把这些笔记部署成一个在线网站，实现知识的分享。这就是“一套笔记，多种输出”的价值闭环，极大地提升了我们的知识管理和分享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即将结束。我们回顾一下，我们学习了如何用AI赋能业务，也掌握了用AI促进编程学习的方法。核心思想是，AI是强大的工具，但更重要的是我们如何创造性地使用它。我号召大家从今天开始，就动手尝试一个小任务，拥抱Markdown，并开始构建属于你自己的高效工作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我的分享到此结束，感谢大家的聆听。现在是问答环节，欢迎大家提问，期待与各位进行更深入的交流。谢谢！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jpe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3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4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64.png" Type="http://schemas.openxmlformats.org/officeDocument/2006/relationships/image"/><Relationship Id="rId8" Target="../media/image65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6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notesSlides/notesSlide22.xml" Type="http://schemas.openxmlformats.org/officeDocument/2006/relationships/notesSlide"/><Relationship Id="rId2" Target="../media/image71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3.xml" Type="http://schemas.openxmlformats.org/officeDocument/2006/relationships/notesSlide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4.jpeg" Type="http://schemas.openxmlformats.org/officeDocument/2006/relationships/image"/><Relationship Id="rId3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9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794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AI赋能未来：从业务革新到编程学习的全面进阶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7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一场关于AI如何重塑我们工作与学习方式的深度分享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842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60325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主讲人：[您的姓名]     |    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培训目标与核心议程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922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AI赋能业务：构建高效工作流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984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深入探索多模态模型与建筑设计、数据分析等实际业务场景的深度融合，掌握AI Agent的构建逻辑，打造从需求到落地的高效智能化业务闭环。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1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92200" y="450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47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AI促进编程：开启学习新范式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44" flipH="false" flipV="false">
            <a:off x="1092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092200" y="5270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借助AI工具从0到1掌握Python、R、Rust等主流语言，建立“AI辅助学习-代码实践-成果沉淀”的高效路径，快速构建个人技术知识体系。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738" flipH="false" flipV="false">
            <a:off x="4159250" y="4152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2032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807200" y="2222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3660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 · 重塑业务流程的融合之道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444" flipH="false" flipV="false">
            <a:off x="6807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807200" y="2984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解析AI与业务结合的底层逻辑，通过建筑设计BIM化、数据分析智能化的真实场景案例，实战演示如何用AI将抽象草图转化为精准模型，挖掘数据核心洞察。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31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807200" y="4508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366000" y="447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编程学习的进阶闭环实践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444" flipH="false" flipV="false">
            <a:off x="6807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807200" y="5270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梳理AI辅助编程的三阶段学习法，完成Python、R、Rust多语言实战练习，最终通过Markdown串联知识节点，搭建可复用、可展示的个人专属技术知识库。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03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699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AI赋能业务——重塑工作流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5969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AI与业务工作流的互动模式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1028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AI不再是孤立的工具，而是嵌入业务流程的“智能伙伴”。它能理解人类意图、处理复杂专业数据并自动化执行重复性任务，将专家从繁琐劳动中解放，专注于创造性工作，重塑业务全流程的价值产出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429000"/>
            <a:ext cx="1981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683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52500" y="4318000"/>
            <a:ext cx="160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7283" flipH="false" flipV="false">
            <a:off x="952525" y="48831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5080000"/>
            <a:ext cx="160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依托大语言模型（LLM）深度解析业务需求的自然语言描述，精准捕捉用户的核心诉求与潜在意图。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33700" y="3429000"/>
            <a:ext cx="1981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33700" y="3429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124200" y="3683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124200" y="4318000"/>
            <a:ext cx="160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感知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7283" flipH="false" flipV="false">
            <a:off x="3124225" y="48831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124200" y="5080000"/>
            <a:ext cx="160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通过多模态模型处理建筑图纸、手绘草图、数据图表等非文本信息，实现对复杂视觉与专业数据的全面感知。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105400" y="3429000"/>
            <a:ext cx="1981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105400" y="3429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95900" y="3683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95900" y="4318000"/>
            <a:ext cx="160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生成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7283" flipH="false" flipV="false">
            <a:off x="5295925" y="48831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5295900" y="5080000"/>
            <a:ext cx="160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基于理解与感知的结果，自主生成初步方案、代码脚本、分析报告或结构化数据，完成内容的初步构建。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77100" y="3429000"/>
            <a:ext cx="1981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77100" y="3429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467600" y="3683000"/>
            <a:ext cx="457200" cy="457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467600" y="4318000"/>
            <a:ext cx="160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优化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7283" flipH="false" flipV="false">
            <a:off x="7467625" y="48831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7467600" y="5080000"/>
            <a:ext cx="160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结合RAG检索增强技术，从海量知识库调取专家经验与规范，对生成内容进行校验、修正与迭代优化。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448800" y="3429000"/>
            <a:ext cx="1981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448800" y="3429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639300" y="3683000"/>
            <a:ext cx="457200" cy="457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639300" y="4318000"/>
            <a:ext cx="160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行动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27283" flipH="false" flipV="false">
            <a:off x="9639325" y="48831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9639300" y="5080000"/>
            <a:ext cx="160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最终形成自主响应的AI Agent，对接业务系统实现任务自动化执行，构建闭环的智能业务工作流。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核心技术原理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47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 (LLM)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9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作为理解与生成人类语言的核心，能精准解析复杂的业务需求、撰写专业报告摘要，并智能回应各类用户咨询，是AI交互的基础。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080000"/>
            <a:ext cx="2921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52070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将“需容纳100人、南北朝向的采光会议室”这类自然语言，转化为机器可执行的结构化设计指令。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413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70500" y="247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多模态模型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46355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35500" y="349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可同时处理图像、文本、声音等多元信息，是打通物理世界（如手绘草图、实景照片）与数字世界的关键桥梁，实现跨媒介的精准理解。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5080000"/>
            <a:ext cx="2921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62500" y="52070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上传手绘建筑平面草图，模型可自动识别墙体、门窗及空间布局，并将其精准转化为标准化的数字坐标数据。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413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90000" y="247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检索增强生成 (RAG)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946" flipH="false" flipV="false">
            <a:off x="82550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255000" y="349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生成内容前先从专业知识库检索相关信息，结合实时、权威数据进行生成，有效规避AI“幻觉”，保障输出内容的专业性、准确性与时效性。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55000" y="5080000"/>
            <a:ext cx="2921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52070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开展建筑能耗分析时，快速检索同气候区、同类型建筑的历史能耗数据及专家参数，为方案提供科学支撑。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场景实践：建筑设计——从草图到BIM模型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888" b="888"/>
          <a:stretch>
            <a:fillRect/>
          </a:stretch>
        </p:blipFill>
        <p:spPr>
          <a:xfrm rot="0" flipH="false" flipV="false">
            <a:off x="762000" y="1778000"/>
            <a:ext cx="4826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080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建筑手绘草图是设计的灵感起点，但传统模式下，将其转化为精确的BIM模型需要大量人工数字化工作，成为设计流程中的效率瓶颈。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9889" flipH="false" flipV="false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350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778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传统设计流程的核心痛点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2225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手绘草图需人工识别与数字化，不仅耗时耗力，且在BIM建模中易引入人为误差；同时，方案的能耗、采光等性能分析依赖人工反复测算，周期漫长。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594" flipH="false" flipV="false">
            <a:off x="6350008" y="3422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350000" y="368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3683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AI驱动的“草图+专家知识”新模式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4127500"/>
            <a:ext cx="482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设计师上传草图与需求，多模态LLM自动降噪识别构件，计算机视觉生成3D几何模型，RAG技术检索专家热工参数，几分钟内即可输出参数化、可直接用于分析的BIM模型。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5461000"/>
            <a:ext cx="16002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5588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5588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极致提效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5969000"/>
            <a:ext cx="1346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建模周期从数天压缩至几分钟，释放设计精力。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77200" y="5461000"/>
            <a:ext cx="16002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204200" y="5588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585200" y="5588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精准无误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04200" y="5969000"/>
            <a:ext cx="1346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减少人工建模误差，确保数据与模型的一致性。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804400" y="5461000"/>
            <a:ext cx="16002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931400" y="5588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312400" y="5588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知识沉淀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931400" y="5969000"/>
            <a:ext cx="1346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将专家经验固化进AI工作流，实现专业知识复用。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AI工具案例：建筑设计与渲染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AI效果图工具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Midjourney / Stable Diffusion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通过输入精确的文本描述（Prompt），快速生成高质量、富有创意的建筑概念图和效果图。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极大拓展设计灵感，可生成超现实或风格化视觉效果。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示例Prompt：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“一座未来主义风格的图书馆，外观由流动的玻璃和白色曲线构成，室内充满自然光，有大量绿植，高清写实照片风格。”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Kaedim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将2D草图/概念图快速转换为带材质的3D模型，加速建模流程。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无缝连接2D创意与3D建模，简化建模师工作。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65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建筑师模型与渲染工具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4130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SketchUp + AI插件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在SketchUp中通过AI插件（如AI Shape Generator）辅助生成复杂几何形状，或进行智能物体布置。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在熟悉的工作流中集成AI能力，学习成本低，效率提升明显。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5080000"/>
            <a:ext cx="508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Lumion / Twinmotion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利用实时渲染技术，集成AI天空生成、AI人群动画、AI材质匹配等功能，快速生成高质量建筑表现视频和图像。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实时反馈，所见即所得，极大缩短渲染周期。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场景实践：数据分析——从图纸到结构化数据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588000" cy="12700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传统模式：繁琐的人工信息采集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508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建筑平面图中的房间、面积、门窗等信息依赖人工录入BIM或Excel，空间拓扑关系也需手动梳理，效率低且易出错，难以支撑规模化数据应用。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AI方案：智能视觉识别与结构化提取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4318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318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格式输入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4762500"/>
            <a:ext cx="147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支持CAD、PDF等标准建筑图纸格式的直接上传解析。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692400" y="419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19400" y="4318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200400" y="4318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多模态解析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819400" y="4762500"/>
            <a:ext cx="147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基于Qwen3-VL模型精准识别墙体、门窗及空间拓扑关系。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22800" y="4191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749800" y="4318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130800" y="4318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49800" y="4762500"/>
            <a:ext cx="147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自动生成JSON结构化数据，包含所有元素属性与关联。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7813" flipH="false" flipV="false">
            <a:off x="762007" y="56451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62000" y="5842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彻底替代繁琐的手工录入工作，释放人力成本。</a:t>
            </a:r>
          </a:p>
        </p:txBody>
      </p:sp>
      <p:cxnSp>
        <p:nvCxnSpPr>
          <p:cNvPr name="Connector 23" id="23"/>
          <p:cNvCxnSpPr/>
          <p:nvPr/>
        </p:nvCxnSpPr>
        <p:spPr>
          <a:xfrm rot="5323618" flipH="false" flipV="false">
            <a:off x="2381250" y="61849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2794000" y="5842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信息结构化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非结构化图纸转化为可分析数据，赋能后续应用。</a:t>
            </a:r>
          </a:p>
        </p:txBody>
      </p:sp>
      <p:cxnSp>
        <p:nvCxnSpPr>
          <p:cNvPr name="Connector 25" id="25"/>
          <p:cNvCxnSpPr/>
          <p:nvPr/>
        </p:nvCxnSpPr>
        <p:spPr>
          <a:xfrm rot="5323618" flipH="false" flipV="false">
            <a:off x="4286250" y="61849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4699000" y="5842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</a:t>
            </a: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91.2%+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房间功能分类与空间关系推断精准可靠。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rcRect l="0" r="0" t="935" b="935"/>
          <a:stretch>
            <a:fillRect/>
          </a:stretch>
        </p:blipFill>
        <p:spPr>
          <a:xfrm rot="0" flipH="false" flipV="false">
            <a:off x="6858000" y="1905000"/>
            <a:ext cx="4572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8" id="28"/>
          <p:cNvSpPr/>
          <p:nvPr/>
        </p:nvSpPr>
        <p:spPr>
          <a:xfrm rot="0" flipH="false" flipV="false">
            <a:off x="6858000" y="54610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985000" y="5588000"/>
            <a:ext cx="431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通过AI视觉识别技术，可自动从复杂的建筑施工图纸中提取墙体、轴线、门窗及房间属性，为数字化建筑信息模型(BIM)构建提供了高效、精准的底层数据支撑。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工具与案例：图纸数据提取与指标计算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主流商业化工具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1. Autodesk Revit + Dynamo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通过Dynamo可视化编程，自动从Revit模型提取房间面积、门窗数量等数据，生成建筑指标报告。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与BIM建模流程无缝集成，数据准确性高。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2. Bluebeam Revu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PDF协作工具，通过测量和标记功能，半自动从PDF图纸提取长度、面积等数据并生成报告。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无需CAD/BIM软件，直接处理图纸，适配多方协作场景。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397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引申：内部自研工作流工具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032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建筑指标计算助手 (非AI)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540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快速读取：解析CAD图层/属性，自动识别计算房间面积。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自动计算：内置国标规范，自动算容积率、绿化率等指标。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810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工作原理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基于工作流自动化，预设规则引擎识别特定图层/属性，模拟人工完成提取、汇总与计算。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5207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价值体现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效率：数小时手动计算缩短至几分钟。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准确/合规：避免人工错误，计算过程符合行业标准。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实战演示：从草图到BIM模型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0066" b="10066"/>
          <a:stretch>
            <a:fillRect/>
          </a:stretch>
        </p:blipFill>
        <p:spPr>
          <a:xfrm rot="0" flipH="false" flipV="false">
            <a:off x="762000" y="1778000"/>
            <a:ext cx="4572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图示为Slipstream Sketchbox生成的BIM模型效果，直观呈现建筑主体结构与基础桩体的空间关系，为后续能耗模拟提供精确数字基底。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90450" flipH="false" flipV="false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0" y="1778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工具：Slipstream Sketchbox (免费网页版)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413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专为建筑师与工程师打造的AI工具，可将手绘建筑平面草图，快速转化为可用于能耗分析的精确3D数字模型，大幅降低建模门槛与时间成本。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248400" y="3708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654800" y="36830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上传与描述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8992" flipH="false" flipV="false">
            <a:off x="6248418" y="4184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248400" y="4318000"/>
            <a:ext cx="22987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注册登录后上传手绘草图，并用自然语言补充建筑位置、楼层数等关键信息。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265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978900" y="3708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385300" y="36830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生成与分析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8992" flipH="false" flipV="false">
            <a:off x="8978918" y="4184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978900" y="4318000"/>
            <a:ext cx="22987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AI自动生成3D模型，一键运行能耗模拟，将抽象创意转化为可量化的分析数据。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0" y="5397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48400" y="55626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31000" y="55245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跳过复杂的CAD建模环节，直接从概念草图进入性能分析阶段，让早期设计决策更科学、更高效，真正实现AI赋能建筑设计的全流程优化。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71376" y="1322384"/>
            <a:ext cx="11186568" cy="350671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506113" y="330842"/>
            <a:ext cx="5311601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https://tumcms.github.io/BIMgent.github.io/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实战演示：从数据到洞察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21084" b="21084"/>
          <a:stretch>
            <a:fillRect/>
          </a:stretch>
        </p:blipFill>
        <p:spPr>
          <a:xfrm rot="0" flipH="false" flipV="false">
            <a:off x="762000" y="1651000"/>
            <a:ext cx="52705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93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93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40005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工具2：Qwen3-VL（本地化多模态解析）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基于阿里云镜像部署Docker容器，可精准识别建筑平面图中的房间布局、面积及门窗位置。通过输入结构化提示词，将非结构化的图纸信息转化为机器可读的JSON数据，建立2D图纸与3D模型的数据桥梁。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334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524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5461000"/>
            <a:ext cx="450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输出效果：结构化数据接口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无需人工测量与录入，直接输出标准化数据，大幅降低了从图纸提取信息的人力成本，为自动化建模提供可靠的底层数据支持。</a:t>
            </a:r>
          </a:p>
        </p:txBody>
      </p:sp>
      <p:cxnSp>
        <p:nvCxnSpPr>
          <p:cNvPr name="Connector 11" id="11"/>
          <p:cNvCxnSpPr/>
          <p:nvPr/>
        </p:nvCxnSpPr>
        <p:spPr>
          <a:xfrm rot="5390832" flipH="false" flipV="false">
            <a:off x="3867150" y="4025908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13500" y="1651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841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12000" y="18034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工具3：BIMgent（GUI自动化开源框架）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这是一个GitHub开源项目，核心原理是利用AI算法驱动鼠标和键盘操作，模拟人工在BIM软件中的交互行为。它打破了传统API调用的限制，让AI能像人一样“使用”专业软件，实现从指令到操作的端到端自动化。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13500" y="3810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381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16700" y="38735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从图纸到模型的全自动流转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演示中，AI读取平面图数据后，自动在Revit等软件中创建轴网、墙体、门窗构件，完整复现图纸信息。预录制视频直观展示了AI如何替代重复性的手工建模劳动，实现流程的标准化与高速化。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5334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5524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54610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启示：软件自动化的无限可能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BIMgent证明了AI不仅能处理数据，更能操作软件。这为建筑、工程、设计等依赖专业软件的行业，提供了通用的自动化解决方案思路。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8B5CF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/ 第二部分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4826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AI促进编程学习——开启高效学习新范式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AI时代的编程学习新范式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25600"/>
            <a:ext cx="1016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核心理念：AI不是替代程序员，而是成为程序员的“超级副驾”。它极大地降低学习门槛、加速学习进程，让学习者从繁琐的语法记忆中解放，更专注于逻辑构建与创造力表达。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2766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入门与理解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323" flipH="false" flipV="false">
            <a:off x="952513" y="393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4127500"/>
            <a:ext cx="3048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AI角色：翻译官与解释器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利用AI将晦涩的变量、函数、循环等抽象概念，转化为生活中的通俗案例。目标是快速建立编程思维框架，而非死记硬背语法细节。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304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330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80000" y="32766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练习与巩固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572013" y="393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4127500"/>
            <a:ext cx="3048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AI角色：出题官与点评师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让AI生成包含隐蔽错误的代码片段，通过自主调试、修复Bug来巩固技能。AI还能即时反馈代码质量，提供优化建议，高效完成刻意练习。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304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91500" y="3302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699500" y="32766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进阶与创造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323" flipH="false" flipV="false">
            <a:off x="8191513" y="393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191500" y="4127500"/>
            <a:ext cx="3048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AI角色：架构师与代码伙伴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向AI描述真实项目需求，借助其辅助设计技术架构、生成核心模块代码。学习者专注于业务逻辑与创新方案，将AI作为高效的实现工具。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多语言实践：AI辅助Python学习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2890" b="2890"/>
          <a:stretch>
            <a:fillRect/>
          </a:stretch>
        </p:blipFill>
        <p:spPr>
          <a:xfrm rot="0" flipH="false" flipV="false">
            <a:off x="762000" y="2032000"/>
            <a:ext cx="3556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588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Python作为最易上手的编程语言之一，借助AI的自然语言交互能力，能让抽象的编程概念变得直观易懂，大幅降低学习门槛。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90177" flipH="false" flipV="false">
            <a:off x="2603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0" y="1905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1905000"/>
            <a:ext cx="76200" cy="1460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334000" y="203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778500" y="2006600"/>
            <a:ext cx="552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入门：用生活实例理解抽象概念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7473" flipH="false" flipV="false">
            <a:off x="5334007" y="2533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334000" y="2667000"/>
            <a:ext cx="596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针对`pandas`数据筛选的困惑，向AI提问“用生活例子解释df[df['age'] &gt; 18]”，AI会用“筛选班级中18岁以上同学”的通俗场景，让数据索引逻辑一目了然。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0" y="3556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3556000"/>
            <a:ext cx="76200" cy="1460500"/>
          </a:xfrm>
          <a:prstGeom prst="roundRect">
            <a:avLst>
              <a:gd name="adj" fmla="val 0"/>
            </a:avLst>
          </a:prstGeom>
          <a:solidFill>
            <a:srgbClr val="8B5CF6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334000" y="3683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778500" y="3657600"/>
            <a:ext cx="552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练习：实战调试含Bug的代码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7473" flipH="false" flipV="false">
            <a:off x="5334007" y="4184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334000" y="4318000"/>
            <a:ext cx="596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让AI生成一段“打印1-10平方却只输出0-9”的错误代码，通过自主发现`range(10)`的边界问题并修正为`range(1,11)`，在“找错-改错”中扎实掌握循环逻辑。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0" y="5143500"/>
            <a:ext cx="635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5143500"/>
            <a:ext cx="76200" cy="1397000"/>
          </a:xfrm>
          <a:prstGeom prst="roundRect">
            <a:avLst>
              <a:gd name="adj" fmla="val 0"/>
            </a:avLst>
          </a:prstGeom>
          <a:solidFill>
            <a:srgbClr val="8B5CF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334000" y="5270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778500" y="5245100"/>
            <a:ext cx="552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进阶：高效构建完整项目框架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7473" flipH="false" flipV="false">
            <a:off x="5334007" y="57340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5334000" y="5842000"/>
            <a:ext cx="596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向AI提出“开发Flask待办应用”的需求，快速获取标准的项目目录结构与核心路由代码，聚焦业务逻辑实现，而非繁琐的基础搭建。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多语言实践：AI辅助R语言学习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605" r="4605" t="0" b="0"/>
          <a:stretch>
            <a:fillRect/>
          </a:stretch>
        </p:blipFill>
        <p:spPr>
          <a:xfrm rot="0" flipH="false" flipV="false">
            <a:off x="762000" y="1905000"/>
            <a:ext cx="3810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0800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R语言是统计计算与绘图的强大工具，结合AI辅助，能显著降低学习门槛，提升数据分析与报告生成的效率，实现从代码编写到成果交付的全流程加速。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90177" flipH="false" flipV="false">
            <a:off x="2984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0" y="1905000"/>
            <a:ext cx="60960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2032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350000" y="20320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入门：理解语法与核心操作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91200" y="2540000"/>
            <a:ext cx="546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向AI提问获取代码示例，快速掌握dplyr管道操作。例如，指令AI按气缸数分组计算mtcars数据集的均值，即刻得到可运行的R代码片段，降低语法学习成本。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3429000"/>
            <a:ext cx="60960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342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3556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35560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练习：制作专业可视化表格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91200" y="4064000"/>
            <a:ext cx="546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利用AI生成flextable代码，为数据表格添加条件色阶与专业样式。无需死记参数，只需描述需求（如“马力越高颜色越深”），即可获得可复用的格式化方案。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4953000"/>
            <a:ext cx="60960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791200" y="5080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350000" y="50800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进阶：生成商业级分析报告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91200" y="5588000"/>
            <a:ext cx="546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让AI生成完整的R Markdown与Bookdown模板，自动整合分析过程、图表与数据，快速输出带目录、交叉引用的印刷级PDF报告，实现分析成果的高效交付。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多语言实践：AI辅助Rust与Tauri学习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3636" r="13636" t="0" b="0"/>
          <a:stretch>
            <a:fillRect/>
          </a:stretch>
        </p:blipFill>
        <p:spPr>
          <a:xfrm rot="0" flipH="false" flipV="false">
            <a:off x="762000" y="2032000"/>
            <a:ext cx="4064000" cy="2794000"/>
          </a:xfrm>
          <a:prstGeom prst="rect">
            <a:avLst/>
          </a:prstGeom>
          <a:noFill/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Rust 以其内存安全和高性能著称，结合 Tauri 框架可构建轻量级桌面应用。AI 的介入，为这门系统级语言的学习与开发提供了全新的高效路径。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9889" flipH="false" flipV="false">
            <a:off x="3175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0" y="2032000"/>
            <a:ext cx="1968500" cy="40640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2032000"/>
            <a:ext cx="19685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40400" y="228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740400" y="28575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入门：概念理解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6241" flipH="false" flipV="false">
            <a:off x="5740424" y="3422650"/>
            <a:ext cx="1663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740400" y="3619500"/>
            <a:ext cx="16637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 Rust 独特的“所有权”机制，是掌握内存管理的关键。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用“借书给朋友”的生活比喻，将抽象的内存权限规则具象化，降低理解门槛。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47000" y="2032000"/>
            <a:ext cx="1968500" cy="40640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747000" y="2032000"/>
            <a:ext cx="19685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8994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899400" y="28575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练习：技能巩固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6241" flipH="false" flipV="false">
            <a:off x="7899424" y="3422650"/>
            <a:ext cx="1663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899400" y="3619500"/>
            <a:ext cx="16637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熟练运用模式匹配（Match）处理复杂的类型分支逻辑。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设计“消息类型分发”的实战场景，生成可运行的代码框架，引导主动思考与编码实践。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842500" y="2032000"/>
            <a:ext cx="1968500" cy="40640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842500" y="2032000"/>
            <a:ext cx="19685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994900" y="2286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994900" y="28575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进阶：应用开发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6241" flipH="false" flipV="false">
            <a:off x="9994924" y="3422650"/>
            <a:ext cx="1663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9994900" y="3619500"/>
            <a:ext cx="16637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Tauri 框架开发跨平台桌面应用，打通前后端交互。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提供项目初始化、前端界面和后端逻辑的完整代码，快速构建可运行的最小原型。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成果闭环：用Markdown串联知识，构建个人知识库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0714" b="10714"/>
          <a:stretch>
            <a:fillRect/>
          </a:stretch>
        </p:blipFill>
        <p:spPr>
          <a:xfrm rot="0" flipH="false" flipV="false">
            <a:off x="762000" y="2032000"/>
            <a:ext cx="3556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2070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以Obsidian为载体，将碎片化的知识通过Markdown格式沉淀，利用双链功能编织成互联互通的知识网络，实现从输入到输出的完整闭环。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90177" flipH="false" flipV="false">
            <a:off x="2603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207000" y="1905000"/>
            <a:ext cx="622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为什么是 Markdown？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25400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359400" y="26924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59400" y="3175000"/>
            <a:ext cx="167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简单易学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纯文本格式，语法极简，无需复杂操作，几分钟即可快速上手写作。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27900" y="25400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480300" y="2692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80300" y="3175000"/>
            <a:ext cx="167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通用兼容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被编辑器、笔记软件、AI平台广泛支持，一次书写，多端复用无障碍。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448800" y="25400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601200" y="26924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601200" y="3175000"/>
            <a:ext cx="167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万能桥梁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连接AI交互、代码笔记与技术文档的“通用语言”，高效沉淀成果。</a:t>
            </a:r>
          </a:p>
        </p:txBody>
      </p:sp>
      <p:cxnSp>
        <p:nvCxnSpPr>
          <p:cNvPr name="Connector 16" id="16"/>
          <p:cNvCxnSpPr/>
          <p:nvPr/>
        </p:nvCxnSpPr>
        <p:spPr>
          <a:xfrm rot="-7015" flipH="false" flipV="false">
            <a:off x="5207006" y="44386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207000" y="4635500"/>
            <a:ext cx="622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核心工具：Obsidian 核心优势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07000" y="5270500"/>
            <a:ext cx="3022600" cy="9525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5334000" y="53975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715000" y="5334000"/>
            <a:ext cx="2413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双链构建知识网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[[链接]] 形式关联知识点，自动生成图谱，让隐性关联显性化。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07400" y="5270500"/>
            <a:ext cx="3022600" cy="9525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534400" y="53975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915400" y="5334000"/>
            <a:ext cx="2413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本地掌控与插件生态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数据本地存储更安全，海量插件支持表格美化、多格式导出等扩展功能。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实战演示：从笔记到成果的闭环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8B5CF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413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撰写分析笔记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在Obsidian中新建Markdown笔记，用代码块记录R语言分析逻辑，插入可视化图表与关键注释，形成结构化的分析底稿，让思考过程可追溯。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413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70500" y="2413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一键导出报告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35500" y="3429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通过Obsidian的导出功能，将Markdown笔记直接转为专业PDF。生成的报告保留代码高亮与图表布局，排版整洁，可直接用于向非技术人员汇报。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4130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90000" y="2413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在线知识分享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3429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将笔记文件夹接入Hugo静态网站生成器，自动构建成美观的在线技术博客。从个人留存到团队协作，再到公开分享，实现知识资产的最大化复用。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867400"/>
            <a:ext cx="457200" cy="457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778000" y="5715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核心价值：一套笔记，多种输出 —— 打通从个人学习沉淀到团队知识复用、外部价值分享的完整闭环。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总结与行动号召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AI赋能业务：重塑流程，提升效率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167" flipH="false" flipV="false">
            <a:off x="10160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利用多模态模型和RAG技术，将AI深度融入业务流程，实现从草图到BIM模型的自动化转换，突破传统工作流的效率瓶颈，让技术真正服务于业务价值创造。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865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40500" y="1778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AI促进学习：构建高效知识体系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167" flipH="false" flipV="false">
            <a:off x="65405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540500" y="24130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掌握AI辅助编程的三阶段学习法，实践Python、R、Rust等语言的学习路径，用Markdown和Obsidian搭建知识管理系统，让学习过程可视化、成果沉淀系统化。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0005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学习编程和AI应用，不是为了一蹴而就，而是为了让每一次实践、每一段代码都成为进步的脚印。AI为我们提供了前所未有的工具，真正的关键在于我们如何创造性地使用它们，将技术转化为解决问题的能力。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5397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5372100"/>
            <a:ext cx="2603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从今天开始尝试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952513" y="583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952500" y="5905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选择Sketchbox或Obsidian，用AI辅助完成一个简单的小任务，迈出实践第一步。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5397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43500" y="5372100"/>
            <a:ext cx="2603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拥抱 Markdown 记录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4635513" y="583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4635500" y="5905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用简洁的Markdown语法记录学习笔记和项目文档，让知识沉淀更高效、检索更便捷。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5397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826500" y="5372100"/>
            <a:ext cx="2603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构建专属高效工作流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323" flipH="false" flipV="false">
            <a:off x="8318513" y="583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318500" y="5905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组合AI工具、编程技能与知识管理方法，打造适配自身习惯的工作流，最大化个人效能。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67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406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57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感谢聆听，期待与您交流！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84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欢迎提出您的问题与建议，共同探讨技术与创新的无限可能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C4F97"/>
                </a:solidFill>
                <a:latin typeface="Noto Sans SC"/>
                <a:ea typeface="Noto Sans SC"/>
                <a:cs typeface="Noto Sans SC"/>
                <a:sym typeface="Noto Sans SC"/>
              </a:rPr>
              <a:t>前沿探索：AI Agent工具的应用与价值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6666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508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一个旨在自动化复杂现实世界任务的AI Agent框架，擅长将大任务分解为多个子任务，并调用不同工具来完成。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C4F9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赋能业务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00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自动化工作流：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自主完成跨软件复杂任务（如CAD、Excel、邮件），自动生成并发送项目报告。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智能决策支持：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分析业务数据与文档，提供多维度信息汇总与决策建议。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46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C4F97"/>
                </a:solidFill>
                <a:latin typeface="Noto Sans SC"/>
                <a:ea typeface="Noto Sans SC"/>
                <a:cs typeface="Noto Sans SC"/>
                <a:sym typeface="Noto Sans SC"/>
              </a:rPr>
              <a:t>促进学习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905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任务拆解导师：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将复杂编程/设计任务分解为清晰步骤，引导学习者逐步完成。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跨学科知识整合：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连接不同领域知识（如建筑+编程），辅助理解工具开发逻辑。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78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6666"/>
                </a:solidFill>
                <a:latin typeface="Noto Sans SC"/>
                <a:ea typeface="Noto Sans SC"/>
                <a:cs typeface="Noto Sans SC"/>
                <a:sym typeface="Noto Sans SC"/>
              </a:rPr>
              <a:t>Hermes (Multi-Agent)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413000"/>
            <a:ext cx="508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一个多智能体协作框架，通过创建不同角色的AI Agent（如规划师、研究员、执行者）来共同完成复杂任务。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556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C4F9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赋能业务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4000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模拟团队协作：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构建AI“虚拟团队”，扮演产品经理、设计师等角色，协同完成项目初步设计规划。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高效市场研究：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多Agent并行收集分析多渠道信息，快速生成全面行业分析报告。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546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C4F97"/>
                </a:solidFill>
                <a:latin typeface="Noto Sans SC"/>
                <a:ea typeface="Noto Sans SC"/>
                <a:cs typeface="Noto Sans SC"/>
                <a:sym typeface="Noto Sans SC"/>
              </a:rPr>
              <a:t>促进学习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5905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292100" indent="-165100"/>
            <a:lvl2pPr marL="749300" indent="-165100"/>
            <a:lvl3pPr marL="1206500" indent="-165100"/>
            <a:lvl4pPr marL="1663700" indent="-165100"/>
            <a:lvl5pPr marL="2120900" indent="-165100"/>
            <a:lvl6pPr marL="2578100" indent="-165100"/>
            <a:lvl7pPr marL="3035300" indent="-165100"/>
            <a:lvl8pPr marL="3492500" indent="-165100"/>
            <a:lvl9pPr marL="3949700" indent="-165100"/>
          </a:lstStyle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模拟项目环境：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学习者扮演项目经理，学习任务分配与团队协调，完成模拟项目。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292100">
              <a:lnSpc>
                <a:spcPct val="108333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个性化学习路径：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多Agent扮演不同科目老师，提供定制化、多学科交叉的学习体验。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{"Label":"1","ContentProducer":"001191110102MACQD9K64010000","ProduceID":"7650070936633625794","ReservedCode1":"","ContentPropagator":"","PropagateID":"","ReservedCode2":""}</vt:lpwstr>
  </property>
</Properties>
</file>